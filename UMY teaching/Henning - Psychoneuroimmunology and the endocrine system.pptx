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A6B11B-C140-43A2-B15E-1C4565AFE7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D5D2EB0-8721-4881-BB86-31F75E74034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doi.org/10.3389/fimmu.2020.01170" TargetMode="External"/><Relationship Id="rId2" Type="http://schemas.openxmlformats.org/officeDocument/2006/relationships/hyperlink" Target="https://doi.org/10.1016/j.biopsych.2025.01.014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Lecturer: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Henning (Enric) Garcia Torrents, M.Sc.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Affiliation: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PhD candidate, researcher and professor in training, Medical Anthropology Research Center, Universitat Rovira I Virgili (Tarragona, Spain).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Funding: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Financed by a Professor in Training grant by the Spanish Ministry of Science, Innovation and Universities. Further fundings from EU COST science and technology coordination, and a research project to map autonomy-fostering initiatives in mental health by the Spanish Ministry of Science, Innovation and Universities.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Title of the lecture: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Psychoneuroimmunology, Mental Health, and the Endocrine System: Stress, Trauma, and Metabolic Dysregulation: an Integrative and Holistic Approach to Clinical Practice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9" name="" descr=""/>
          <p:cNvPicPr/>
          <p:nvPr/>
        </p:nvPicPr>
        <p:blipFill>
          <a:blip r:embed="rId2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Psychoneuroimmunology, Mental Health, and the Endocrine System: Stress, Trauma, and Metabolic Dysregulation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 Integrative and Holistic Approach to Clinical Practice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br>
              <a:rPr sz="1500"/>
            </a:b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Learning Objectives: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Understand the key interactions between the nervous, endocrine, and immune systems.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Recognize the impact of stress and trauma on mental and physical health.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Apply integrative approaches to clinical management of related conditions.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12" name="" descr=""/>
          <p:cNvPicPr/>
          <p:nvPr/>
        </p:nvPicPr>
        <p:blipFill>
          <a:blip r:embed="rId2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What is Psychoneuroimmunoendocrinology (PNIE)?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br>
              <a:rPr sz="1500"/>
            </a:b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Definition: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The study of interactions between the nervous, endocrine, and immune systems in health and disease​​.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Clinical relevance: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How stress and trauma dysregulate these systems, and what interventions are advisable from this integrative perspective.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15" name="" descr=""/>
          <p:cNvPicPr/>
          <p:nvPr/>
        </p:nvPicPr>
        <p:blipFill>
          <a:blip r:embed="rId2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Neuroendocrine-Immune System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 Health and Disease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br>
              <a:rPr sz="1500"/>
            </a:b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Key Players in PNIE </a:t>
            </a:r>
            <a:br>
              <a:rPr sz="1500"/>
            </a:b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Hypothalamic-Pituitary-Adrenal (HPA) Axis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Sympathetic-Adrenal-Medullary (SAM) Axis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Cytokines and neuroinflammation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Microbiota-Gut-Brain Axis​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18" name="" descr=""/>
          <p:cNvPicPr/>
          <p:nvPr/>
        </p:nvPicPr>
        <p:blipFill>
          <a:blip r:embed="rId2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  <p:pic>
        <p:nvPicPr>
          <p:cNvPr id="19" name="" descr=""/>
          <p:cNvPicPr/>
          <p:nvPr/>
        </p:nvPicPr>
        <p:blipFill>
          <a:blip r:embed="rId3"/>
          <a:stretch/>
        </p:blipFill>
        <p:spPr>
          <a:xfrm>
            <a:off x="5838120" y="1134000"/>
            <a:ext cx="3943080" cy="389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Neuroendocrine-Immune System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 Health and Disease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br>
              <a:rPr sz="1500"/>
            </a:b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Stress and the HPA Axis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Acute vs. chronic stress responses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Cortisol and its role in immune regulation​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Dysregulation in psychiatric and metabolic disorders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22" name="" descr=""/>
          <p:cNvPicPr/>
          <p:nvPr/>
        </p:nvPicPr>
        <p:blipFill>
          <a:blip r:embed="rId2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  <p:pic>
        <p:nvPicPr>
          <p:cNvPr id="23" name="" descr=""/>
          <p:cNvPicPr/>
          <p:nvPr/>
        </p:nvPicPr>
        <p:blipFill>
          <a:blip r:embed="rId3"/>
          <a:stretch/>
        </p:blipFill>
        <p:spPr>
          <a:xfrm>
            <a:off x="5914800" y="914400"/>
            <a:ext cx="3457800" cy="449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5257800" y="1467360"/>
            <a:ext cx="4495320" cy="3104640"/>
          </a:xfrm>
          <a:prstGeom prst="rect">
            <a:avLst/>
          </a:prstGeom>
          <a:ln w="0">
            <a:noFill/>
          </a:ln>
        </p:spPr>
      </p:pic>
      <p:sp>
        <p:nvSpPr>
          <p:cNvPr id="25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Neuroendocrine-Immune System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 Health and Disease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br>
              <a:rPr sz="1500"/>
            </a:b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Stress and the HPA Axis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Acute vs. chronic stress responses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Cortisol and its role in immune regulation​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Dysregulation in psychiatric and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metabolic disorders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2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27" name="" descr=""/>
          <p:cNvPicPr/>
          <p:nvPr/>
        </p:nvPicPr>
        <p:blipFill>
          <a:blip r:embed="rId3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Immune Activation &amp; Neuroinflammation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br>
              <a:rPr sz="1500"/>
            </a:b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Role of pro-inflammatory cytokines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(IL-1β, TNF-α, IL-6)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How inflammation affects brain function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and mood disorders​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1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30" name="" descr=""/>
          <p:cNvPicPr/>
          <p:nvPr/>
        </p:nvPicPr>
        <p:blipFill>
          <a:blip r:embed="rId2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  <p:pic>
        <p:nvPicPr>
          <p:cNvPr id="31" name="" descr=""/>
          <p:cNvPicPr/>
          <p:nvPr/>
        </p:nvPicPr>
        <p:blipFill>
          <a:blip r:embed="rId3"/>
          <a:stretch/>
        </p:blipFill>
        <p:spPr>
          <a:xfrm>
            <a:off x="5730120" y="1143000"/>
            <a:ext cx="3413880" cy="429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Gut-Brain-Immune Connection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br>
              <a:rPr sz="1500"/>
            </a:b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Microbiota and mental health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Leaky gut and systemic inflammation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/>
        </p:blipFill>
        <p:spPr>
          <a:xfrm>
            <a:off x="5014800" y="914400"/>
            <a:ext cx="4586400" cy="444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Impact of Stress and Trauma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on Mental and Physical Health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Childhood Trauma and Lifelong Health Risks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Early-life stress increases risk for: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Depression, PTSD, schizophrenia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Autoimmune disorders (lupus, rheumatoid arthritis)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Metabolic syndrome and diabetes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1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38" name="" descr=""/>
          <p:cNvPicPr/>
          <p:nvPr/>
        </p:nvPicPr>
        <p:blipFill>
          <a:blip r:embed="rId2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  <p:pic>
        <p:nvPicPr>
          <p:cNvPr id="39" name="" descr=""/>
          <p:cNvPicPr/>
          <p:nvPr/>
        </p:nvPicPr>
        <p:blipFill>
          <a:blip r:embed="rId3"/>
          <a:stretch/>
        </p:blipFill>
        <p:spPr>
          <a:xfrm>
            <a:off x="6064200" y="914400"/>
            <a:ext cx="2823840" cy="455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5545800" y="1554840"/>
            <a:ext cx="4082760" cy="3474360"/>
          </a:xfrm>
          <a:prstGeom prst="rect">
            <a:avLst/>
          </a:prstGeom>
          <a:ln w="0">
            <a:noFill/>
          </a:ln>
        </p:spPr>
      </p:pic>
      <p:sp>
        <p:nvSpPr>
          <p:cNvPr id="41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Impact of Stress and Trauma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on Mental and Physical Health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PTSD as a Psychoneuroimmune Disorder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Hyperactive amygdala, reduced prefrontal control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Chronic inflammation &amp; altered cortisol responses​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2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43" name="" descr=""/>
          <p:cNvPicPr/>
          <p:nvPr/>
        </p:nvPicPr>
        <p:blipFill>
          <a:blip r:embed="rId3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4800600" y="1371600"/>
            <a:ext cx="4924080" cy="3695400"/>
          </a:xfrm>
          <a:prstGeom prst="rect">
            <a:avLst/>
          </a:prstGeom>
          <a:ln w="0">
            <a:noFill/>
          </a:ln>
        </p:spPr>
      </p:pic>
      <p:sp>
        <p:nvSpPr>
          <p:cNvPr id="45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Impact of Stress and Trauma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on Mental and Physical Health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Depression, Anxiety, and Inflammatory Markers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Elevated CRP, IL-6, TNF-α in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major depression​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Anti-inflammatory treatments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as potential therapies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47" name="" descr=""/>
          <p:cNvPicPr/>
          <p:nvPr/>
        </p:nvPicPr>
        <p:blipFill>
          <a:blip r:embed="rId3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5169600" y="1352880"/>
            <a:ext cx="4334400" cy="3904920"/>
          </a:xfrm>
          <a:prstGeom prst="rect">
            <a:avLst/>
          </a:prstGeom>
          <a:ln w="0">
            <a:noFill/>
          </a:ln>
        </p:spPr>
      </p:pic>
      <p:sp>
        <p:nvSpPr>
          <p:cNvPr id="49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Impact of Stress and Trauma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on Mental and Physical Health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Metabolic Dysregulation in Mental Illness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Insulin resistance, obesity,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and psychiatric comorbidities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Role of glucocorticoids and cytokines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in metabolic disease​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2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51" name="" descr=""/>
          <p:cNvPicPr/>
          <p:nvPr/>
        </p:nvPicPr>
        <p:blipFill>
          <a:blip r:embed="rId3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Clinical Applications – A Holistic Approach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Integrative and Holistic Management Strategies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Lifestyle modifications: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Sleep, diet, and physical activity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Mind-body approaches: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Mindfulness, yoga, and cognitive therapy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Targeted interventions: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Anti-inflammatory treatments, microbiota-based therapies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Clinical Applications – A Holistic Approach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Psychoneuroimmune Treatments in Clinical Practice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Anti-inflammatory strategies: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Omega-3, NSAIDs, cytokine blockers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Microbiome-based interventions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: Probiotics, fiber, psychobiotics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HPA-targeted treatments: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Adaptogens, stress reduction therapies​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57" name="" descr=""/>
          <p:cNvPicPr/>
          <p:nvPr/>
        </p:nvPicPr>
        <p:blipFill>
          <a:blip r:embed="rId2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Clinical Applications – A Holistic Approach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Case Study – Depression, Inflammation, and Endocrine Dysfunction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Patient Profile and clinical findings: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Age/Gender: 45-year-old female​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Medical History: Major Depressive Disorder (MDD)​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Inflammatory Markers: Elevated levels of pro-inflammatory cytokines (e.g., IL-6, TNF-α)​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Endocrine Assessment: Hyperactivity of the Hypothalamic-Pituitary-Adrenal (HPA) axis; increased cortisol secretion​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Clinical Applications – A Holistic Approach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Case Study – Depression, Inflammation, and Endocrine Dysfunction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Intervention and outcome: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Administration of anti-inflammatory agents alongside standard antidepressant therapy​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Significant reduction in depressive symptoms and normalization of inflammatory markers​ beyond standard results with treatment as usual. Improved Response and Remission Rates.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Reference: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Slavich, G. M. (2019). Psychoneuroimmunology of stress and mental health. In K. Harkness &amp; E. P. Hayden (Eds.), </a:t>
            </a:r>
            <a:r>
              <a:rPr b="0" i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The Oxford handbook of stress and mental health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. Oxford University Press.​​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Conclusion &amp; Takeaways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Summary of Key Concepts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PNIE is essential for understanding stress-related diseases.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Chronic inflammation links mental and metabolic disorders.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Holistic treatment approaches are key for effective management.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Conclusion &amp; Takeaways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Final Thoughts – Future Directions in PNIE Research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Personalized medicine and biomarkers for psychiatric and other conditions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Expanding microbiome-based and other therapies in clinical practice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69" name="" descr=""/>
          <p:cNvPicPr/>
          <p:nvPr/>
        </p:nvPicPr>
        <p:blipFill>
          <a:blip r:embed="rId2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504360" y="1223280"/>
            <a:ext cx="8952840" cy="39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5555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References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Bottaccioli, F., &amp; Bottaccioli, A. G. (2020). </a:t>
            </a:r>
            <a:r>
              <a:rPr b="0" i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Psychoneuroendocrine immunology and science of the integrated care: The manual.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Edra S.p.A.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Ortega, M. A., García-Montero, C., Fraile-Martinez, O., Álvarez-Mon, M. A., Gómez-Lahoz, A. M., Lahera, G., ... Álvarez-Mon, M. (2022). Immune-mediated diseases from the point of view of psychoneuroimmunoendocrinology. </a:t>
            </a:r>
            <a:r>
              <a:rPr b="0" i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Biolog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y, 11(7), 973. https://doi.org/10.3390/biology11070973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Raony, Í., de Figueiredo, C. S., Pandolfo, P., Giestal-de-Araujo, E., Oliveira-Silva Bomfim, P., &amp; Savino, W. (2020). Psycho-neuroendocrine-immune interactions in COVID-19: Potential impacts on mental health. </a:t>
            </a:r>
            <a:r>
              <a:rPr b="0" i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Frontiers in Immunology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11, 1170.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  <a:hlinkClick r:id="rId1"/>
              </a:rPr>
              <a:t>https://doi.org/10.3389/fimmu.2020.01170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Fraile-Martinez, O., García-Montero, C., Álvarez-Mon, M. Á., Casanova-Martín, C., Fernández-Faber, D., Presa, M., ... Ortega, M. A. (2025). Grasping post-traumatic stress disorder (PTSD) from the perspective of psychoneuroimmunoendocrinology (PNIE): Etiopathogenic mechanisms and relevance for the integrative management. </a:t>
            </a:r>
            <a:r>
              <a:rPr b="0" i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Biological Psychiatry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  <a:hlinkClick r:id="rId2"/>
              </a:rPr>
              <a:t>https://doi.org/10.1016/j.biopsych.2025.01.014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Slavich, G. M. (2019). Psychoneuroimmunology of stress and mental health. In K. Harkness &amp; E. P. Hayden (Eds.), The Oxford handbook of stress and mental health. Oxford University Press. https://doi.org/10.1093/oxfordhb/9780190681777.013.24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3"/>
          <a:stretch/>
        </p:blipFill>
        <p:spPr>
          <a:xfrm>
            <a:off x="12960" y="0"/>
            <a:ext cx="7772040" cy="720000"/>
          </a:xfrm>
          <a:prstGeom prst="rect">
            <a:avLst/>
          </a:prstGeom>
          <a:ln w="0">
            <a:noFill/>
          </a:ln>
        </p:spPr>
      </p:pic>
      <p:pic>
        <p:nvPicPr>
          <p:cNvPr id="72" name="" descr=""/>
          <p:cNvPicPr/>
          <p:nvPr/>
        </p:nvPicPr>
        <p:blipFill>
          <a:blip r:embed="rId4"/>
          <a:stretch/>
        </p:blipFill>
        <p:spPr>
          <a:xfrm>
            <a:off x="7941960" y="91080"/>
            <a:ext cx="1887840" cy="5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2025-03-04T17:02:42Z</dcterms:created>
  <dc:creator/>
  <dc:description/>
  <dc:language>en-US</dc:language>
  <cp:lastModifiedBy/>
  <cp:lastPrinted>2025-03-06T04:56:13Z</cp:lastPrinted>
  <dcterms:modified xsi:type="dcterms:W3CDTF">2025-03-06T04:52:22Z</dcterms:modified>
  <cp:revision>11</cp:revision>
  <dc:subject/>
  <dc:title/>
</cp:coreProperties>
</file>